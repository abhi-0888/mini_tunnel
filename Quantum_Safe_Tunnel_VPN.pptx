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  <p:sldMasterId id="2147483682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E2761"/>
                </a:solidFill>
                <a:latin typeface="Arial"/>
              </a:rPr>
              <a:t>Tests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20-4B40-87A4-CD025DEDDE95}"/>
              </c:ext>
            </c:extLst>
          </c:dPt>
          <c:dPt>
            <c:idx val="1"/>
            <c:invertIfNegative val="0"/>
            <c:bubble3D val="0"/>
            <c:spPr>
              <a:solidFill>
                <a:srgbClr val="3A6B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20-4B40-87A4-CD025DEDDE95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20-4B40-87A4-CD025DEDDE95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20-4B40-87A4-CD025DEDDE95}"/>
              </c:ext>
            </c:extLst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20-4B40-87A4-CD025DEDDE95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120-4B40-87A4-CD025DEDDE95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120-4B40-87A4-CD025DEDDE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Kyber KEM</c:v>
                </c:pt>
                <c:pt idx="1">
                  <c:v>AES-GCM</c:v>
                </c:pt>
                <c:pt idx="2">
                  <c:v>Classical ECDH</c:v>
                </c:pt>
                <c:pt idx="3">
                  <c:v>Hybrid KEX</c:v>
                </c:pt>
                <c:pt idx="4">
                  <c:v>Integration</c:v>
                </c:pt>
                <c:pt idx="5">
                  <c:v>Security Props</c:v>
                </c:pt>
                <c:pt idx="6">
                  <c:v>Benchmarks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7</c:v>
                </c:pt>
                <c:pt idx="2">
                  <c:v>2</c:v>
                </c:pt>
                <c:pt idx="3">
                  <c:v>2</c:v>
                </c:pt>
                <c:pt idx="4">
                  <c:v>5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120-4B40-87A4-CD025DEDDE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6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2357-CBDB-8344-6A96-07CEC5704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9380D-2205-1AA1-D46E-2F10687A0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1468F-E7F4-86E0-6619-8B04FB6D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15EB-60E0-9BCF-1F73-33BBC527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4EDEE-006F-1933-0DBA-BF94A13D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1865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2634-74BC-9050-47CD-8F910A3D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148C8-FF7D-7EF1-F07D-4B55ED2AA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3D8A1-E780-65FB-BC7F-734E7FB1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C3114-CDE1-1632-0F85-270ECF06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6603A-24C8-08C1-5624-E5B02E02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82196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46F6-A476-D431-C5E1-8FC4FD29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C351B-ACFA-3E97-FCD4-634AC48AF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5E40A-C81D-AEDD-C5ED-8B224B8E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53EAF-2C14-D2E6-568E-DF9A3E15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2E475-A6E2-E342-12FA-2E739B4E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568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8794-9448-133B-77E3-F25778CD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19B9B-AF7E-F967-F13C-85578F8C7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8425C-C12A-2EC9-D412-D2B411CC5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A13FE-B056-2951-4A32-002C91A0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9D5D-650C-3C55-04A4-DA7E8DBA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0DB7C-3064-C694-86E3-53EC69F8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0764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2ACF-20D6-B494-92B5-A6FF3C96E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38527-AF95-60CE-829A-2461A058D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A6C74-BA32-DDB4-722A-C29525793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D024C-2DC1-8D68-15E7-7AF4B61BA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9F63E-DF2A-8FD0-65FC-E86E79A0E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50F023-B318-940C-0819-E6570262A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0BF0A0-058E-7CD3-B507-0FC9CB5E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FD98D-27E0-A25B-3D75-A16F5134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926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31E7E-AC5C-E775-2B87-15023910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CC194-C974-30C5-37F7-4B4EF3C7C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66155-A77C-B453-5BAA-999F9A0B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0A08B-1B8C-EA4B-5B89-2B13A46E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3428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15218-972E-498B-EA57-5B34CF688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417F03-8687-4B43-47B8-0FBF0A93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D44CB-CB2F-E8CC-F63A-A704B68E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81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722A-7FE5-7B63-1ED2-F0AD07878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CF0D1-D7EF-8900-68EC-550BA2F6F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CF45F-32D9-8488-E904-33F9DCD00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C1E66-59AE-119F-1AF8-6730AABDE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C79B2-C779-096F-F946-9E65EBFC1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C8DD7-B35F-FE12-2EDE-1F7E693E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5223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5575-39AD-789F-6A3D-6A39D0A8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10CAA-6E24-0CBE-277A-98DB18048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EABFB-7E27-D526-F141-1029BDA8E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3874F-F0C7-EC6E-3AF4-67F3FB26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D768E-7272-5B84-08DF-1EFD59FF3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3A748-A0EB-6717-EFCD-7CA63266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5144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5F7D1-0D0F-FE37-A29B-60951A983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B6A5E-B9FA-015C-77EF-3AE2FC391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8C17A-4124-A7DC-7E27-A72CB190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96C9-75B7-999B-21DB-D5D8BBA0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CBE4B-6092-46A7-8DD6-3D37275D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282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7998AB-B814-81A1-EA4B-2BFB8E37D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8BB56-64D7-46D3-E87C-E3AE5CDC8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6ED53-0574-83A0-9F7A-38807D3C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4EC2D-632D-998F-45DC-1BCBBF0A3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16C82-3DA3-52CD-FD76-A92AD92D7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5691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562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296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7569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987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4679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6631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17769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04578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10272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35374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37055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4323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139359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03152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293350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81894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316920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364983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1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91A95-FF3D-0BAF-5C15-CECC815F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FF833-952E-2C52-78F7-E39484E57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28707-936E-EFFF-0974-1272B9410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68335-41FE-C2C7-51F3-4FB640C8F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3BF0C-998A-A40C-F861-92B0AA7F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53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1583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757432" y="374712"/>
            <a:ext cx="1463040" cy="109728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89646" y="1055940"/>
            <a:ext cx="2011680" cy="1463040"/>
          </a:xfrm>
          <a:prstGeom prst="roundRect">
            <a:avLst/>
          </a:prstGeom>
          <a:solidFill>
            <a:srgbClr val="FFFFFF">
              <a:alpha val="20000"/>
            </a:srgbClr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6672526" y="13074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🔐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04673" y="731520"/>
            <a:ext cx="377757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Quantum-Safe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39822" y="1371600"/>
            <a:ext cx="44649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VPN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 · Network Security · Attack Demonstration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19050">
            <a:solidFill>
              <a:srgbClr val="3A6B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330" y="2807207"/>
            <a:ext cx="21984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0116" y="3135225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Khatiwada  ·  AP23110011547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0116" y="3391257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Yadav          ·  AP23110010678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0116" y="3647289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Jha            ·  AP22110011509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0116" y="3903321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Aniket Jha                ·  AP23110011553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Sanjay Kumar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4107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6576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University-AP, Andhra Pradesh, India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Bachelor of Technology in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38988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0972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4447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threat to classical VPNs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38988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67328" y="10972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67328" y="14447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fundamentals &amp; post-quantum cryptography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38988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109728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93408" y="144475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packet structure, key exchange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71576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4231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2770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build from capture to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33172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233172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71576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67328" y="24231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Demonstrations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67328" y="2770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attacks — all blocked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33172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33172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71576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93408" y="24231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93408" y="277063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 &amp; residual risks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65760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04164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" y="374904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" y="409651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automated tests + Wireshark proof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365760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65760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404164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67328" y="374904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Comparison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67328" y="409651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OpenVPN, WireGuard, IKEv2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657600"/>
            <a:ext cx="27432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0" y="3657600"/>
            <a:ext cx="411480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404164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693408" y="374904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93408" y="4096512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Threat to Every VPN In Use Today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435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commercial VPNs are vulnerable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356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OpenVPN, WireGuard &amp; IKEv2 rely on ECDH/RSA for key exchange.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01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470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breaks them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939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can solve ECDLP in O(n³) — polynomial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603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5054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"Harvest Now, Decrypt Later"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7523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record encrypted traffic today to decrypt it in future.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09544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186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1638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2035 – 2040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107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 logical qubits needed to break RSA-2048. IBM: 1,121 qubits (2023).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67912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770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38221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 urgent now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0690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 long-term confidentiality needs protection immediately.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552534"/>
            <a:ext cx="36576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49240" y="64397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"Harvest Now, Decrypt Later"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1055454"/>
            <a:ext cx="347472" cy="34747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33872" y="1229190"/>
            <a:ext cx="27432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05545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125662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Adversary records encrypted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traffic at fibre taps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0" y="1786974"/>
            <a:ext cx="347472" cy="347472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33872" y="1960710"/>
            <a:ext cx="274320" cy="0"/>
          </a:xfrm>
          <a:prstGeom prst="line">
            <a:avLst/>
          </a:prstGeom>
          <a:noFill/>
          <a:ln w="19050">
            <a:solidFill>
              <a:srgbClr val="CA8A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78697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198814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stored &amp; waiting.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computers can't decrypt.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2518494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33872" y="2692230"/>
            <a:ext cx="27432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51849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2035–2040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271966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 runs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→ key recovered!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0136" y="1055454"/>
            <a:ext cx="0" cy="1810512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218611" y="4072972"/>
            <a:ext cx="36576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4136982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Our Solution: Kyber-768 (NIST FIPS 203) — immune to Shor's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1155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0972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Working VPN Tunnel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408176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encrypted tunnel over TCP with HTTP proxy (IP masking) and DNS tunnelling (ISP privacy).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04288"/>
            <a:ext cx="502920" cy="1143000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4140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" y="27797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239572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CRYSTALS-Kyber-768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706624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 / ML-KEM post-quantum key exchange — first VPN resistant to Shor's Algorithm.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02736"/>
            <a:ext cx="5029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71246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" y="407822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2688" y="3694176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Attack Demonstrations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4005072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proxy, packet tampering, replay attack, sniffing — all blocked in real time with output proof.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502920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1155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82312" y="14813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21808" y="1097280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1408176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Server-Sent Events: animated topology, wire-hex vs plaintext dual pane, attack alerts.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66821" y="2312204"/>
            <a:ext cx="411480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61771" y="2312204"/>
            <a:ext cx="50292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674" y="24219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89344" y="27876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80763" y="2403644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3829" y="27145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automated pytest tests — NIST FIPS 203 key-size conformance, GCM tamper detection, replay rejection.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3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70027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Security Properties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54708"/>
            <a:ext cx="420624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24520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2452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124520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87089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1591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485063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Tunnel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1512495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on every payload byte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25998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397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935729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Authentication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935729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GCM GHASH auth tag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258378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75945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" y="2356348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Protection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67709" y="2374641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64-packet sliding-window counter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84227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8872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2795586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Tunnelling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2775664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DNS proxied through server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16608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92371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3188452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Flow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0280" y="3201521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Server-push without client request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868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PQC Standards (August 2024)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156295"/>
            <a:ext cx="3931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247735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97296" y="1247735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68896" y="1247735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74736" y="1247735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595207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1686647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97296" y="1686647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 (Kyber)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68896" y="1686647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Lattice/M-LWE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74736" y="1686647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034119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2125559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97296" y="2125559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ML-DSA (Dilithium)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68896" y="2125559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Lattice/M-LWE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74736" y="2125559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2473031"/>
            <a:ext cx="3931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2564471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97296" y="2564471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SLH-DSA (SPHINCS+)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68896" y="2564471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174736" y="2564471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365983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Key Exchange Strategy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65760" y="3954780"/>
            <a:ext cx="4178808" cy="964692"/>
          </a:xfrm>
          <a:prstGeom prst="rect">
            <a:avLst/>
          </a:prstGeom>
          <a:solidFill>
            <a:srgbClr val="F1F5F9"/>
          </a:solidFill>
          <a:ln w="19050">
            <a:solidFill>
              <a:srgbClr val="3A6B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005072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final_key = SHA-384( ECDH_secret  ‖  Kyber_secret )[:32]
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ECDH P-384  — quantum-vulnerable, classical security
• Kyber-768   — quantum-safe, M-LWE lattice security
</a:t>
            </a: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must be broken simultaneously to compromise session key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314333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Quantum Algorithms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846320" y="3435942"/>
            <a:ext cx="3931920" cy="594360"/>
          </a:xfrm>
          <a:prstGeom prst="rect">
            <a:avLst/>
          </a:prstGeom>
          <a:solidFill>
            <a:srgbClr val="F1F5F9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54567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330952" y="349080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(1994)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30952" y="373769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RSA, ECDH in O(n³) — polynomial time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46320" y="4149174"/>
            <a:ext cx="3931920" cy="594360"/>
          </a:xfrm>
          <a:prstGeom prst="rect">
            <a:avLst/>
          </a:prstGeom>
          <a:solidFill>
            <a:srgbClr val="F1F5F9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425890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5330952" y="420403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Grover's (1996)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30952" y="445092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symmetric key security (AES-256 → 128-bit PQ)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logical components across two network endpoints plus optional attacker node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53175" y="1143000"/>
            <a:ext cx="2560320" cy="2194560"/>
          </a:xfrm>
          <a:prstGeom prst="rect">
            <a:avLst/>
          </a:prstGeom>
          <a:solidFill>
            <a:srgbClr val="F1F5F9"/>
          </a:solidFill>
          <a:ln w="25400">
            <a:solidFill>
              <a:srgbClr val="3A6B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3175" y="1143000"/>
            <a:ext cx="25603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895" y="1170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MACHINE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4615" y="15087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vpn_client.py
</a:t>
            </a:r>
            <a:r>
              <a:rPr lang="en-US" sz="950" dirty="0">
                <a:solidFill>
                  <a:srgbClr val="475569"/>
                </a:solidFill>
              </a:rPr>
              <a:t>• Kyber-768 + ECDH key exchange
• AES-256-GCM encrypt/decrypt
• Commands: fetch / resolve
• Interactive or demo mode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325" y="1143000"/>
            <a:ext cx="2560320" cy="2194560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08325" y="1143000"/>
            <a:ext cx="25603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4045" y="11704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MACHINE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99765" y="15087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vpn_server.py
</a:t>
            </a:r>
            <a:r>
              <a:rPr lang="en-US" sz="950" dirty="0">
                <a:solidFill>
                  <a:srgbClr val="475569"/>
                </a:solidFill>
              </a:rPr>
              <a:t>• Multi-threaded TCP accept
• HTTP proxy (TUNNEL:FETCH)
• DNS resolver (TUNNEL:DNS)
• SSE events →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41710" y="1521819"/>
            <a:ext cx="2926080" cy="172429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3A6BC9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023360" y="1966795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🌐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200400" y="2699673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2896221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sees: random bytes only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13495" y="1901952"/>
            <a:ext cx="29260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5717" y="1901952"/>
            <a:ext cx="29260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1787369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◀── AES-256-GCM Encrypted Tunnel ──▶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3720" y="3657600"/>
            <a:ext cx="2743200" cy="96012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15" y="3721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MITM Proxy  (attacks/mitm_proxy.py)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15" y="39684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 5001 → forwards to port 5000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Executes replay + tampering attacks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attacks being blocked in terminal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25445" y="3657600"/>
            <a:ext cx="2743200" cy="96012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16885" y="37216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Web Dashboard  (dashboard/app.py)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16885" y="39684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 SSE on port 8080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 hex ↔ plaintext dual-pane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attack event alerts + counters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14165" y="3337560"/>
            <a:ext cx="0" cy="320040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924775" y="3337560"/>
            <a:ext cx="0" cy="32004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Wire Format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0481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VPN packet: 4-byte length prefix + binary structure below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85523"/>
            <a:ext cx="8412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35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Frame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88719"/>
            <a:ext cx="118872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Prefix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1188720"/>
            <a:ext cx="118872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1887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371600" cy="420624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18872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0" y="1188720"/>
            <a:ext cx="32004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18872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188720"/>
            <a:ext cx="128016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18872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Tag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52009" y="873909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offset →   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34640" y="9326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75615" y="93268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23760" y="93268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N-16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85632" y="9326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874520"/>
            <a:ext cx="2103120" cy="2148840"/>
          </a:xfrm>
          <a:prstGeom prst="rect">
            <a:avLst/>
          </a:prstGeom>
          <a:solidFill>
            <a:srgbClr val="F1F5F9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874520"/>
            <a:ext cx="21031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192024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(8B)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" y="2221992"/>
            <a:ext cx="19933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monotonically increasing. Server rejects counter already in recv_window → replay protection. Included in GCM AAD so it cannot be modified without tag invalidation.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42032" y="1874520"/>
            <a:ext cx="2103120" cy="2148840"/>
          </a:xfrm>
          <a:prstGeom prst="rect">
            <a:avLst/>
          </a:prstGeom>
          <a:solidFill>
            <a:srgbClr val="F1F5F9"/>
          </a:solidFill>
          <a:ln w="19050">
            <a:solidFill>
              <a:srgbClr val="3A6B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42032" y="1874520"/>
            <a:ext cx="2103120" cy="292608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96896" y="192024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 (12B)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96896" y="2221992"/>
            <a:ext cx="19933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96-bit os.urandom(12) per packet. Guarantees identical plaintexts produce different ciphertexts → prevents pattern analysis and statistical attacks.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18304" y="1874520"/>
            <a:ext cx="2103120" cy="214884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18304" y="1874520"/>
            <a:ext cx="21031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92024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(variable)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2221992"/>
            <a:ext cx="199339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output. Computationally indistinguishable from random bytes without the 32-byte session key. Example: 34B plaintext → 34B ciphertext + 16B tag.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94576" y="1874520"/>
            <a:ext cx="1883664" cy="2148840"/>
          </a:xfrm>
          <a:prstGeom prst="rect">
            <a:avLst/>
          </a:prstGeom>
          <a:solidFill>
            <a:srgbClr val="F1F5F9"/>
          </a:solidFill>
          <a:ln w="19050">
            <a:solidFill>
              <a:srgbClr val="16A3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94576" y="1874520"/>
            <a:ext cx="1883664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1920240"/>
            <a:ext cx="1993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Tag (16B)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2221992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GHASH MAC computed over Counter + Nonce + Ciphertext. Flipping any single bit in any field invalidates this tag → tamper detection.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069080"/>
            <a:ext cx="841248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1879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overhead: 36 bytes per packet  ·  Example: 34-byte plaintext → 70 bytes on wire  ·  TCP framing adds 4-byte length prefix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1727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Key Exchange Sequence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22860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841248"/>
            <a:ext cx="2286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08760" y="1192641"/>
            <a:ext cx="0" cy="36576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648210" y="1186110"/>
            <a:ext cx="0" cy="365760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593666" y="1567496"/>
            <a:ext cx="5989320" cy="0"/>
          </a:xfrm>
          <a:prstGeom prst="line">
            <a:avLst/>
          </a:prstGeom>
          <a:noFill/>
          <a:ln w="22860">
            <a:solidFill>
              <a:srgbClr val="3A6B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40930" y="145106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417320"/>
            <a:ext cx="5303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42646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Client ECDH public key (97 B)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80606" y="1972491"/>
            <a:ext cx="5989320" cy="0"/>
          </a:xfrm>
          <a:prstGeom prst="line">
            <a:avLst/>
          </a:prstGeom>
          <a:noFill/>
          <a:ln w="22860">
            <a:solidFill>
              <a:srgbClr val="3A6B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9499" y="18516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828800"/>
            <a:ext cx="5303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83794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Client Kyber-768 public key (1184 B)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87230" y="2377486"/>
            <a:ext cx="5989320" cy="0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1735" y="2266407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20240" y="2240280"/>
            <a:ext cx="5303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24942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Server ECDH public key (97 B)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87230" y="2775904"/>
            <a:ext cx="5989320" cy="0"/>
          </a:xfrm>
          <a:prstGeom prst="line">
            <a:avLst/>
          </a:prstGeom>
          <a:noFill/>
          <a:ln w="2286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55204" y="265829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20240" y="2651760"/>
            <a:ext cx="5303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266090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Server Kyber-768 public key (1184 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0244" y="3193915"/>
            <a:ext cx="5989320" cy="0"/>
          </a:xfrm>
          <a:prstGeom prst="line">
            <a:avLst/>
          </a:prstGeom>
          <a:noFill/>
          <a:ln w="2286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40606" y="309580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20240" y="3063240"/>
            <a:ext cx="53035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307238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Kyber ciphertext (1088 B)  [Encapsulate(server_pk)]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3493008"/>
            <a:ext cx="4572000" cy="804672"/>
          </a:xfrm>
          <a:prstGeom prst="rect">
            <a:avLst/>
          </a:prstGeom>
          <a:solidFill>
            <a:srgbClr val="EFF6FF"/>
          </a:solidFill>
          <a:ln w="19050">
            <a:solidFill>
              <a:srgbClr val="3A6B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53872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Independent Key Derivation (both sides compute same key)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376732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6B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final_key = SHA-384( ECDH_secret ‖ Kyber_secret )[:32]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77440" y="400507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32-byte AES-256-GCM session key  —  never transmitted on wire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415244"/>
            <a:ext cx="8412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Encrypted Tunnel Active  ·  AES-256-GCM(counter, payload)  ◀────▶  AES-256-GCM(counter, response)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886817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handshake on wire: 97 + 1184 + 97 + 1184 + 1088 = 3,650 bytes  ·  Session key NEVER transmitted</a:t>
            </a:r>
            <a:endParaRPr lang="en-US" sz="95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E98E84CF-FAB8-1443-81BF-0925897988A9}"/>
              </a:ext>
            </a:extLst>
          </p:cNvPr>
          <p:cNvSpPr/>
          <p:nvPr/>
        </p:nvSpPr>
        <p:spPr>
          <a:xfrm>
            <a:off x="7429500" y="2265317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B0723539-54BF-4C8B-5546-3F9EA88AB555}"/>
              </a:ext>
            </a:extLst>
          </p:cNvPr>
          <p:cNvSpPr/>
          <p:nvPr/>
        </p:nvSpPr>
        <p:spPr>
          <a:xfrm>
            <a:off x="7434075" y="2671349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FA25B950-6CE6-13B2-271C-14C4FDAFDFF0}"/>
              </a:ext>
            </a:extLst>
          </p:cNvPr>
          <p:cNvSpPr/>
          <p:nvPr/>
        </p:nvSpPr>
        <p:spPr>
          <a:xfrm rot="10800000">
            <a:off x="1531621" y="1453243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3C44BA36-40C7-840A-6A03-0653A9186B7C}"/>
              </a:ext>
            </a:extLst>
          </p:cNvPr>
          <p:cNvSpPr/>
          <p:nvPr/>
        </p:nvSpPr>
        <p:spPr>
          <a:xfrm rot="10800000">
            <a:off x="1544679" y="18546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61074B9A-6995-D7AF-535E-E4215F094EE0}"/>
              </a:ext>
            </a:extLst>
          </p:cNvPr>
          <p:cNvSpPr/>
          <p:nvPr/>
        </p:nvSpPr>
        <p:spPr>
          <a:xfrm rot="10800000">
            <a:off x="1554480" y="3081527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8-Step Build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457200" cy="87782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34440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1051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134416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network sniffing establishes baseline — all plaintext visible without encryption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457200" cy="87782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234440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75504" y="1051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Tunnel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75504" y="1344168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socket client-server forwarding; proves the network plumbing before cryptography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47672"/>
            <a:ext cx="457200" cy="877824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221992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7824" y="2039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2331720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ECDH P-384 vs Kyber-768 KEM — quantum-vulnerable vs post-quantum side-by-side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947672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947672"/>
            <a:ext cx="457200" cy="877824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2221992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75504" y="2039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75504" y="2331720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+ nonce + ciphertext + 128-bit auth tag; confidentiality, integrity, replay binding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35224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35224"/>
            <a:ext cx="457200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209544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7824" y="30266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Protection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3319272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64-packet sliding window; counter in GCM AAD prevents modification without tag failure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935224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935224"/>
            <a:ext cx="457200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3209544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75504" y="30266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&amp; DNS Tunnelling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75504" y="3319272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TUNNEL:FETCH (IP masking) and TUNNEL:DNS (ISP snooping prevention) routed via server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922776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922776"/>
            <a:ext cx="45720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197096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7824" y="40142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Flow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7824" y="430682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Server-push before client asks; TUNNEL:VERIFY returns JSON Kyber-768 proof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922776"/>
            <a:ext cx="4023360" cy="8778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922776"/>
            <a:ext cx="457200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4197096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175504" y="40142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75504" y="4306824"/>
            <a:ext cx="3429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SSE: animated topology, hex vs plaintext dual pane, attack badges, 4 live counters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Demonstrations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attack classes — each demonstrated live, each blocked in real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56692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 (Wireshark)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AES-256-GCM: wire shows only random bytes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0" y="1243584"/>
            <a:ext cx="18288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26187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BLOCKED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37944"/>
            <a:ext cx="8412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37944"/>
            <a:ext cx="56692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29384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19293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Proxy Interception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2037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3,650 handshake bytes captured — Module-LWE unsolvable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2002536"/>
            <a:ext cx="18288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0208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BLOCKED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8412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96896"/>
            <a:ext cx="56692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88336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26883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Tampering (GCM Bit-Flip)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9626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flipped bit → 128-bit GHASH tag mismatch → TamperingError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2761488"/>
            <a:ext cx="18288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7797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BLOCKED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55848"/>
            <a:ext cx="8412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55848"/>
            <a:ext cx="56692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47288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840" y="34472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 (Counter Window)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721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counter=1 already in recv_window → ReplayAttackError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0" y="3520440"/>
            <a:ext cx="18288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5387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BLOCKED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114800"/>
            <a:ext cx="56692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20624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005840" y="4206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Threat (Harvest Now, Decrypt Later)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Kyber-768: 2^161 quantum ops needed — computationally infeasible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58000" y="4279392"/>
            <a:ext cx="1828800" cy="347472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29768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MITIGATED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9334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attacks run simultaneously: MITM proxy (terminal) + Flask dashboard (browser) + Wireshark (packet capture)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412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937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161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14600" y="12161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2161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27048"/>
            <a:ext cx="49377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002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— modify ciphertext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128-bit auth tag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36592" y="1600200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11096"/>
            <a:ext cx="49377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842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— modify counter/nonce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14600" y="19842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fields in GCM AAD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36592" y="198424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49377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682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 — read payload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23682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236829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679192"/>
            <a:ext cx="49377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523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 — recover session 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275234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Kyber-768 (M-LWE problem)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36592" y="2752344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9377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3639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— resend old packet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14600" y="3136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64-packet sliding-window counter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3136392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447288"/>
            <a:ext cx="49377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EoP — key compromise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14600" y="35204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keys per session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36592" y="3520440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831336"/>
            <a:ext cx="493776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044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— rogue server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14600" y="39044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X.509 certificates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36592" y="390448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215384"/>
            <a:ext cx="4937760" cy="36576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885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— connection flooding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514600" y="42885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rate limiting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36592" y="4288536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77840" y="8412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Kyber-768 Is Quantum-Safe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577840" y="1143000"/>
            <a:ext cx="3291840" cy="3730752"/>
          </a:xfrm>
          <a:prstGeom prst="rect">
            <a:avLst/>
          </a:prstGeom>
          <a:solidFill>
            <a:srgbClr val="F1F5F9"/>
          </a:solidFill>
          <a:ln w="19050">
            <a:solidFill>
              <a:srgbClr val="3A6BC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0" y="1261872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1298448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attack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42432" y="1517904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2^182 ops (BKZ lattice reduction)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0" y="1920240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432" y="1956816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quantum attack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42432" y="2176272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6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2^161 ops (no known speedup)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69280" y="2578608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2615184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10¹⁸ ops/sec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742432" y="2834640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10³⁰ seconds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69280" y="3236976"/>
            <a:ext cx="3108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42432" y="3273552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age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742432" y="3493008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1.4 × 10¹⁰ years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669280" y="3931920"/>
            <a:ext cx="31089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42432" y="3986784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Guarantee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742432" y="4187952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break BOTH Kyber AND ECDH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4320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Success Rate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383280" y="82296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28803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Test Cases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200400"/>
            <a:ext cx="26974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77824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 Conformance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77824" y="3566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pk=1184B, sk=2400B, ct=1088B, ss=32B — exact match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3200400"/>
            <a:ext cx="26974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73552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💥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12464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Detection (Bit-Flip)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712464" y="3566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bit position tested; TamperingError always raised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3200400"/>
            <a:ext cx="26974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47104" y="32735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Rejection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47104" y="3566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decrypted once → success; second attempt → ReplayAttackError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4096512"/>
            <a:ext cx="26974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" y="4206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77824" y="41696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Integration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77824" y="44622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client-server tunnel test over real TCP socket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00400" y="4096512"/>
            <a:ext cx="26974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73552" y="4206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3712464" y="41696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Randomness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712464" y="44622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 verified; identical plaintexts → different ciphertexts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035040" y="4096512"/>
            <a:ext cx="269748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08192" y="42062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547104" y="41696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Performance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47104" y="44622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Kyber-768 faster than ECDH P-384 in keygen + encaps + decaps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385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502568"/>
            <a:ext cx="39319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300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VPN — Wireshark Reveals Everything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95176"/>
            <a:ext cx="3931920" cy="2286000"/>
          </a:xfrm>
          <a:prstGeom prst="rect">
            <a:avLst/>
          </a:prstGeom>
          <a:solidFill>
            <a:srgbClr val="1E1E1E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040"/>
            <a:ext cx="36576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HTTP/1.1\r\n
</a:t>
            </a: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neverssl.com\r\n
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Cookie: session=abc123\r\n
</a:t>
            </a:r>
            <a:r>
              <a:rPr lang="en-US" sz="9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[Full HTML body visible]
</a:t>
            </a: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DNS: query A neverssl.com
DNS: response 13.58.149.79
</a:t>
            </a: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Every site you visit is visible!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502568"/>
            <a:ext cx="39319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5300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VPN — Wireshark Reveals Nothing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795176"/>
            <a:ext cx="3931920" cy="2286000"/>
          </a:xfrm>
          <a:prstGeom prst="rect">
            <a:avLst/>
          </a:prstGeom>
          <a:solidFill>
            <a:srgbClr val="1E1E1E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850040"/>
            <a:ext cx="365760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http → 0 packets found
filter: dns  → 0 packets found
</a:t>
            </a: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Stream (Follow):
</a:t>
            </a: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...C...q..g........|...#..._
..H.........._....e..3..p..N
</a:t>
            </a:r>
            <a:r>
              <a:rPr lang="en-US" sz="950" dirty="0">
                <a:solidFill>
                  <a:srgbClr val="D7B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[100% random bytes — no content]
</a:t>
            </a:r>
            <a:r>
              <a:rPr lang="en-US" sz="9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AES-256-GCM: perfect confidentiality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198667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Leakage Comparison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65153"/>
            <a:ext cx="2286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20017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attacker sees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3465153"/>
            <a:ext cx="292608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3520017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VPN (HTTPS)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3465153"/>
            <a:ext cx="32004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3520017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Tunnel VPN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03481"/>
            <a:ext cx="22860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58345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51760" y="3803481"/>
            <a:ext cx="29260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3858345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Cleartext UDP — fully visible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77840" y="3803481"/>
            <a:ext cx="32004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3858345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— tunnelled through VPN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41809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96673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4141809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4196673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website IP exposed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4141809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4196673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VPN server IP visible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480137"/>
            <a:ext cx="22860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35001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IP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51760" y="4480137"/>
            <a:ext cx="29260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535001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 every site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4480137"/>
            <a:ext cx="32004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4535001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Server's IP shown instead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810597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65461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HTTP/S Content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51760" y="4810597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4865461"/>
            <a:ext cx="2852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(but metadata leaks)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77840" y="4810597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4865461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bytes to one endpoint only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Commercial VPNs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9"/>
            <a:ext cx="2103120" cy="374904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50401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468880" y="777249"/>
            <a:ext cx="1554480" cy="374904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850401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OpenVPN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0" y="777249"/>
            <a:ext cx="1554480" cy="374904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850401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777249"/>
            <a:ext cx="1554480" cy="374904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850401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IKEv2/IPSec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0" y="777249"/>
            <a:ext cx="1645920" cy="374904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850401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VPN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170441"/>
            <a:ext cx="21031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243593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170441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243593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RSA-2048 + ECDH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1170441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1243593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Curve25519 (ECDH)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170441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43593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ECDH or RSA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1170441"/>
            <a:ext cx="1645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243593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Kyber-768 + ECDH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563633"/>
            <a:ext cx="21031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636785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1563633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1636785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23360" y="1563633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1636785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1563633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636785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1563633"/>
            <a:ext cx="1645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1636785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1956825"/>
            <a:ext cx="21031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029977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Quantum-Safe?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1956825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2029977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1956825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69080" y="2029977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1956825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2029977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1956825"/>
            <a:ext cx="1645920" cy="374904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2029977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2350017"/>
            <a:ext cx="21031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2423169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w/ Shor's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68880" y="2350017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2423169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BROKEN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023360" y="2350017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69080" y="2423169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BROKEN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77840" y="2350017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2423169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BROKEN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32320" y="2350017"/>
            <a:ext cx="1645920" cy="374904"/>
          </a:xfrm>
          <a:prstGeom prst="rect">
            <a:avLst/>
          </a:prstGeom>
          <a:solidFill>
            <a:srgbClr val="DC262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2423169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Resistant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2743209"/>
            <a:ext cx="21031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816361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Masking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68880" y="2743209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2816361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023360" y="2743209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69080" y="2816361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77840" y="2743209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23560" y="2816361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132320" y="2743209"/>
            <a:ext cx="1645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040" y="2816361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Proven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3136401"/>
            <a:ext cx="21031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3209553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Privacy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468880" y="3136401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514600" y="3209553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Config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023360" y="3136401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3209553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Config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77840" y="3136401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23560" y="3209553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132320" y="3136401"/>
            <a:ext cx="1645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78040" y="3209553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Built-in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65760" y="3529593"/>
            <a:ext cx="21031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3602745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Attack Demo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468880" y="3529593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514600" y="3602745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023360" y="3529593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69080" y="3602745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577840" y="3529593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3602745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32320" y="3529593"/>
            <a:ext cx="1645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78040" y="3602745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MITM Proxy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65760" y="3922785"/>
            <a:ext cx="21031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1480" y="3995937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468880" y="3922785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14600" y="3995937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(paid)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023360" y="3922785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069080" y="3995937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577840" y="3922785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23560" y="3995937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132320" y="3922785"/>
            <a:ext cx="1645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78040" y="3995937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SSE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65760" y="4315977"/>
            <a:ext cx="21031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11480" y="4389129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 Verification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468880" y="4315977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14600" y="4389129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023360" y="4315977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069080" y="4389129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577840" y="4315977"/>
            <a:ext cx="155448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623560" y="4389129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132320" y="4315977"/>
            <a:ext cx="1645920" cy="3749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78040" y="4389129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JSON Proof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65760" y="4754889"/>
            <a:ext cx="84124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57200" y="4800609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 ONLY VPN in this comparison resistant to quantum computer attacks — through CRYSTALS-Kyber-768 (NIST FIPS 203)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234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16434"/>
            <a:ext cx="841248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93530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90787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87552" y="88958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real, working VPN prototype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16390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tunnel, IP masking, DNS privacy, bidirectional flow — all proven with Wireshark captures.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593674"/>
            <a:ext cx="841248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71254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8511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66682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NIST FIPS 203 (ML-KEM / Kyber-768)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94114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VPN prototype using NIST-standardized post-quantum cryptography for key exchange.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70914"/>
            <a:ext cx="841248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248978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6235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7552" y="244406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5 attack classes — all blocked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71838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MITM proxy shows sniffing, MITM, tampering, replay, and quantum threat all defeated.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148154"/>
            <a:ext cx="841248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26702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3959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" y="322130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Machine-verifiable proof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" y="349562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automated tests pass. verify command returns JSON: pk=1184B, ct=1088B — exact NIST spec.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925394"/>
            <a:ext cx="841248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404426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01683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7552" y="399854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migration costs nothing in performance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427286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Kyber-768 is faster than ECDH P-384 in all operations — no performance penalty.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702634"/>
            <a:ext cx="8412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5749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 Signal (PQXDH), AWS s2n-tls, Google Chrome, and Cloudflare CIRCL — post-quantum migration is production-ready today.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21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790302"/>
            <a:ext cx="2743200" cy="3913632"/>
          </a:xfrm>
          <a:prstGeom prst="rect">
            <a:avLst/>
          </a:prstGeom>
          <a:solidFill>
            <a:srgbClr val="F1F5F9"/>
          </a:solidFill>
          <a:ln w="25400">
            <a:solidFill>
              <a:srgbClr val="3A6BC9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90302"/>
            <a:ext cx="2743200" cy="502920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17734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" y="1037190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" y="1448670"/>
            <a:ext cx="256032" cy="256032"/>
          </a:xfrm>
          <a:prstGeom prst="ellipse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0295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TUN/TAP virtual interface — transparent OS-level routing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2225910"/>
            <a:ext cx="256032" cy="256032"/>
          </a:xfrm>
          <a:prstGeom prst="ellipse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18019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transport — lower latency (WireGuard approach)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3003150"/>
            <a:ext cx="256032" cy="256032"/>
          </a:xfrm>
          <a:prstGeom prst="ellipse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95743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— prevent IP leakage on VPN drop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780390"/>
            <a:ext cx="256032" cy="256032"/>
          </a:xfrm>
          <a:prstGeom prst="ellipse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73467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 — fresh session keys automatically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790302"/>
            <a:ext cx="2743200" cy="3913632"/>
          </a:xfrm>
          <a:prstGeom prst="rect">
            <a:avLst/>
          </a:prstGeom>
          <a:solidFill>
            <a:srgbClr val="F1F5F9"/>
          </a:solidFill>
          <a:ln w="254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790302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817734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9272" y="1037190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55848" y="144867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85032" y="140295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certificate authentication — prevent rogue servers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55848" y="222591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218019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obfuscation — bypass Deep Packet Inspection (DPI)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55848" y="300315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295743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routing — additional anonymity layers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790302"/>
            <a:ext cx="2743200" cy="3913632"/>
          </a:xfrm>
          <a:prstGeom prst="rect">
            <a:avLst/>
          </a:prstGeom>
          <a:solidFill>
            <a:srgbClr val="F1F5F9"/>
          </a:solidFill>
          <a:ln w="25400">
            <a:solidFill>
              <a:srgbClr val="1E276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790302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817734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5352" y="1037190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81928" y="144867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140295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desktop application — Electron/Qt cross-platform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81928" y="222591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218019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clients — iOS (Swift) + Android (Kotlin)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81928" y="300315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2957430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cloud deployment — geo-unblocking + load balancing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749654"/>
            <a:ext cx="85039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749654"/>
            <a:ext cx="2743200" cy="256032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4965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Near Term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46120" y="474965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Mid Term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74965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3A6BC9"/>
          </a:solidFill>
          <a:ln w="12700">
            <a:solidFill>
              <a:srgbClr val="3A6B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3042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880360"/>
            <a:ext cx="5486400" cy="0"/>
          </a:xfrm>
          <a:prstGeom prst="line">
            <a:avLst/>
          </a:prstGeom>
          <a:noFill/>
          <a:ln w="12700">
            <a:solidFill>
              <a:srgbClr val="3A6B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3017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🔐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Today's Data Against Tomorrow's Quantum Threats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github.com/Abhi-0888/Mini_Tunnel</a:t>
            </a:r>
            <a:endParaRPr lang="en-US" sz="1200" dirty="0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2192</Words>
  <Application>Microsoft Office PowerPoint</Application>
  <PresentationFormat>On-screen Show (16:9)</PresentationFormat>
  <Paragraphs>449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Tw Cen MT</vt:lpstr>
      <vt:lpstr>Office Theme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Quantum-Safe Tunnel VPN</dc:title>
  <dc:subject>PptxGenJS Presentation</dc:subject>
  <dc:creator>Krishna Khatiwada, Rakesh Yadav, Abhishek Jha, Aniket Jha</dc:creator>
  <cp:lastModifiedBy>Abisekh Khatiwada</cp:lastModifiedBy>
  <cp:revision>27</cp:revision>
  <dcterms:created xsi:type="dcterms:W3CDTF">2026-04-26T17:18:45Z</dcterms:created>
  <dcterms:modified xsi:type="dcterms:W3CDTF">2026-04-26T17:59:57Z</dcterms:modified>
</cp:coreProperties>
</file>